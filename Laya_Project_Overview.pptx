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45720"/>
          </a:xfrm>
          <a:prstGeom prst="rect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A394"/>
                </a:solidFill>
                <a:latin typeface="Arial"/>
              </a:rPr>
              <a:t>TECHNICAL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6F5F1"/>
                </a:solidFill>
                <a:latin typeface="Arial"/>
              </a:rPr>
              <a:t>Laya: Typed Decisions</a:t>
            </a:r>
          </a:p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6F5F1"/>
                </a:solidFill>
                <a:latin typeface="Arial"/>
              </a:rPr>
              <a:t>Without Text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FD8D5"/>
                </a:solidFill>
                <a:latin typeface="Arial"/>
              </a:rPr>
              <a:t>An open-source System-1 decision engine — our own heuristic engine,</a:t>
            </a:r>
          </a:p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FD8D5"/>
                </a:solidFill>
                <a:latin typeface="Arial"/>
              </a:rPr>
              <a:t>laya-mlx, and Jev, compared on real measured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FD8D5"/>
                </a:solidFill>
                <a:latin typeface="Arial"/>
              </a:rPr>
              <a:t>Engineering &amp; Product  ·  Laya Demo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94"/>
                </a:solidFill>
                <a:latin typeface="Arial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2192B"/>
                </a:solidFill>
                <a:latin typeface="Arial"/>
              </a:rPr>
              <a:t>What Is Laya?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30394A"/>
                </a:solidFill>
                <a:latin typeface="Arial"/>
              </a:rPr>
              <a:t>An open-source, Apache 2.0 model that answers typed questions directly —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30394A"/>
                </a:solidFill>
                <a:latin typeface="Arial"/>
              </a:rPr>
              <a:t>bool / enum / number — in a single forward pass. No text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698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>
                <a:solidFill>
                  <a:srgbClr val="30394A"/>
                </a:solidFill>
                <a:latin typeface="Arial"/>
              </a:rPr>
              <a:t>—  Open alternative to Jev (TypeSafe AI's commercial “System One” API)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>
                <a:solidFill>
                  <a:srgbClr val="30394A"/>
                </a:solidFill>
                <a:latin typeface="Arial"/>
              </a:rPr>
              <a:t>—  Three checkpoints, 322M–421M parameters — English + multilingual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>
                <a:solidFill>
                  <a:srgbClr val="30394A"/>
                </a:solidFill>
                <a:latin typeface="Arial"/>
              </a:rPr>
              <a:t>—  Ships as laya-mlx for native Apple Silicon inference (Metal/MLX)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>
                <a:solidFill>
                  <a:srgbClr val="30394A"/>
                </a:solidFill>
                <a:latin typeface="Arial"/>
              </a:rPr>
              <a:t>—  Target workloads: invoice processing, ticket routing, moderation,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7784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234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F8F5B"/>
                </a:solidFill>
                <a:latin typeface="Arial"/>
              </a:rPr>
              <a:t>Apache 2.0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5577840"/>
            <a:ext cx="1508760" cy="50292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5577840"/>
            <a:ext cx="1508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F8F5B"/>
                </a:solidFill>
                <a:latin typeface="Arial"/>
              </a:rPr>
              <a:t>3 checkpoints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557784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557784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F8F5B"/>
                </a:solidFill>
                <a:latin typeface="Arial"/>
              </a:rPr>
              <a:t>Runs on Apple Silicon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5577840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577840"/>
            <a:ext cx="2514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F8F5B"/>
                </a:solidFill>
                <a:latin typeface="Arial"/>
              </a:rPr>
              <a:t>$0 per call, self-hosted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Laya Project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94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2192B"/>
                </a:solidFill>
                <a:latin typeface="Arial"/>
              </a:rPr>
              <a:t>Jev vs. Laya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389120"/>
              </a:tblGrid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6F5F1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6F5F1"/>
                          </a:solidFill>
                          <a:latin typeface="Arial"/>
                        </a:rPr>
                        <a:t>Jev (commercial)</a:t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6F5F1"/>
                          </a:solidFill>
                          <a:latin typeface="Arial"/>
                        </a:rPr>
                        <a:t>Laya (open-source)</a:t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License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Closed, pay-per-token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Apache 2.0, free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Data privacy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Requests leave your infra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Fully local — nothing leaves your machine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Latency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Network round-trip to vendor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In-process, no network hop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Black-box decisions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Fully auditable code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Vendor lock-in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Tied to vendor pricing &amp; roadmap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None — you own the code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A7179"/>
                </a:solidFill>
                <a:latin typeface="Arial"/>
              </a:rPr>
              <a:t>Jev likely has an edge in raw accuracy from a managed, trained model — the rest of this deck measures how far an open alternative gets.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Laya 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94"/>
                </a:solidFill>
                <a:latin typeface="Arial"/>
              </a:rPr>
              <a:t>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2192B"/>
                </a:solidFill>
                <a:latin typeface="Arial"/>
              </a:rPr>
              <a:t>Three Ways to Make a Typed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6A7179"/>
                </a:solidFill>
                <a:latin typeface="Arial"/>
              </a:rPr>
              <a:t>What we actually built and tested — not a hypothetical comparison.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9456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00400"/>
                <a:gridCol w="3200400"/>
                <a:gridCol w="256032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6F5F1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6F5F1"/>
                          </a:solidFill>
                          <a:latin typeface="Arial"/>
                        </a:rPr>
                        <a:t>Heuristic (ours)</a:t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6F5F1"/>
                          </a:solidFill>
                          <a:latin typeface="Arial"/>
                        </a:rPr>
                        <a:t>laya-mlx</a:t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6F5F1"/>
                          </a:solidFill>
                          <a:latin typeface="Arial"/>
                        </a:rPr>
                        <a:t>Jev</a:t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Hand-written word-overlap scoring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Trained decision transformer (322–421M)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Trained model (proprietary)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Training data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None — no model at all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General-purpose typed-decision tasks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Unknown, vendor-controlled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Setup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Zero — nothing to install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One-time model download (~several 100MB)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API key + network access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Used in this project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Yes — powers both demo games today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Yes — benchmarked side by side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30394A"/>
                          </a:solidFill>
                          <a:latin typeface="Arial"/>
                        </a:rPr>
                        <a:t>No — reference only, not integrated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Laya 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94"/>
                </a:solidFill>
                <a:latin typeface="Arial"/>
              </a:rPr>
              <a:t>HOW THE DEMOS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2192B"/>
                </a:solidFill>
                <a:latin typeface="Arial"/>
              </a:rPr>
              <a:t>Same Pattern, Every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237744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6587" y="2377440"/>
            <a:ext cx="2377440" cy="73152"/>
          </a:xfrm>
          <a:prstGeom prst="rect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6517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92B"/>
                </a:solidFill>
                <a:latin typeface="Arial"/>
              </a:rPr>
              <a:t>Game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Real math: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positions, health,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ammo, offsets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64027" y="3319272"/>
            <a:ext cx="502920" cy="219456"/>
          </a:xfrm>
          <a:prstGeom prst="rightArrow">
            <a:avLst/>
          </a:prstGeom>
          <a:solidFill>
            <a:srgbClr val="6A7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6947" y="237744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66947" y="2377440"/>
            <a:ext cx="2377440" cy="73152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9827" y="26517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92B"/>
                </a:solidFill>
                <a:latin typeface="Arial"/>
              </a:rPr>
              <a:t>English Sentence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9827" y="3246120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Templated text,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e.g. “enemy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spotted left”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44387" y="3319272"/>
            <a:ext cx="502920" cy="219456"/>
          </a:xfrm>
          <a:prstGeom prst="rightArrow">
            <a:avLst/>
          </a:prstGeom>
          <a:solidFill>
            <a:srgbClr val="6A7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7307" y="237744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7307" y="2377440"/>
            <a:ext cx="2377440" cy="73152"/>
          </a:xfrm>
          <a:prstGeom prst="rect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0187" y="26517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92B"/>
                </a:solidFill>
                <a:latin typeface="Arial"/>
              </a:rPr>
              <a:t>/decide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246120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Typed enum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question sent to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heuristic or laya-mlx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24747" y="3319272"/>
            <a:ext cx="502920" cy="219456"/>
          </a:xfrm>
          <a:prstGeom prst="rightArrow">
            <a:avLst/>
          </a:prstGeom>
          <a:solidFill>
            <a:srgbClr val="6A7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27667" y="237744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27667" y="2377440"/>
            <a:ext cx="2377440" cy="73152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0547" y="26517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92B"/>
                </a:solidFill>
                <a:latin typeface="Arial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0547" y="3246120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Mapped to a real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game input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0394A"/>
                </a:solidFill>
                <a:latin typeface="Arial"/>
              </a:rPr>
              <a:t>(turn, shoot, move)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30394A"/>
                </a:solidFill>
                <a:latin typeface="Arial"/>
              </a:rPr>
              <a:t>Neither engine ever sees pixels, coordinates, or angles — only a short sentence.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Laya Project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94"/>
                </a:solidFill>
                <a:latin typeface="Arial"/>
              </a:rPr>
              <a:t>DEMO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2192B"/>
                </a:solidFill>
                <a:latin typeface="Arial"/>
              </a:rPr>
              <a:t>Two Demo Games, Same Decision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4114800"/>
          </a:xfrm>
          <a:prstGeom prst="rect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2192B"/>
                </a:solidFill>
                <a:latin typeface="Arial"/>
              </a:rPr>
              <a:t>play_doom.py — Real Doom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548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VizDoom scenario: defend_the_center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Enemies close in from all sides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3 options: turn_left / turn_right / shoot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Decision made ~20× per second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Fully autonomous — no player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57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64008" cy="4114800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299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2192B"/>
                </a:solidFill>
                <a:latin typeface="Arial"/>
              </a:rPr>
              <a:t>shooting_range.py — Shooting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7548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Custom pygame turret + monster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Player moves the monster (arrow keys)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5 options: turn_left / right / up / down / shoot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Decision made every 2 frames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30394A"/>
                </a:solidFill>
                <a:latin typeface="Arial"/>
              </a:rPr>
              <a:t>·  Isolated view of targeting logic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Laya Project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94"/>
                </a:solidFill>
                <a:latin typeface="Arial"/>
              </a:rPr>
              <a:t>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2192B"/>
                </a:solidFill>
                <a:latin typeface="Arial"/>
              </a:rPr>
              <a:t>Heuristic vs. laya-mlx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7179"/>
                </a:solidFill>
                <a:latin typeface="Arial"/>
              </a:rPr>
              <a:t>All numbers from real runs against this codebase — not estimates.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  <a:gridCol w="2743200"/>
                <a:gridCol w="2651760"/>
              </a:tblGrid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6F5F1"/>
                          </a:solidFill>
                          <a:latin typeface="Arial"/>
                        </a:rPr>
                        <a:t>Flow</a:t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6F5F1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6F5F1"/>
                          </a:solidFill>
                          <a:latin typeface="Arial"/>
                        </a:rPr>
                        <a:t>Heuristic</a:t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6F5F1"/>
                          </a:solidFill>
                          <a:latin typeface="Arial"/>
                        </a:rPr>
                        <a:t>laya-mlx</a:t>
                      </a:r>
                    </a:p>
                  </a:txBody>
                  <a:tcPr anchor="ctr" marL="127000" marR="127000" marT="76200" marB="76200">
                    <a:solidFill>
                      <a:srgbClr val="12192B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/decide API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Accuracy (6 cases)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F8F5B"/>
                          </a:solidFill>
                          <a:latin typeface="Arial"/>
                        </a:rPr>
                        <a:t>100% (6/6)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67% (4/6)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/decide API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Latency (steady state)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F8F5B"/>
                          </a:solidFill>
                          <a:latin typeface="Arial"/>
                        </a:rPr>
                        <a:t>~1.5 ms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~30 ms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Doom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Shoot accuracy*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F8F5B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~22%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Doom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Avg. survival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F8F5B"/>
                          </a:solidFill>
                          <a:latin typeface="Arial"/>
                        </a:rPr>
                        <a:t>~1,106 ticks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~375 ticks</a:t>
                      </a:r>
                    </a:p>
                  </a:txBody>
                  <a:tcPr anchor="ctr" marL="127000" marR="127000" marT="76200" marB="76200">
                    <a:solidFill>
                      <a:srgbClr val="F1F0EB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Shooting Range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Decision accuracy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F8F5B"/>
                          </a:solidFill>
                          <a:latin typeface="Arial"/>
                        </a:rPr>
                        <a:t>100% (121/121)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30394A"/>
                          </a:solidFill>
                          <a:latin typeface="Arial"/>
                        </a:rPr>
                        <a:t>33% (12/36)</a:t>
                      </a:r>
                    </a:p>
                  </a:txBody>
                  <a:tcPr anchor="ctr" marL="127000" marR="1270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15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A7179"/>
                </a:solidFill>
                <a:latin typeface="Arial"/>
              </a:rPr>
              <a:t>*Shoot accuracy = fraction of “shoot” decisions where a live monster was actually centered. Checkpoint used: aac6fef/laya-typed-decisions-mlx (best of 3 tested).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Laya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94"/>
                </a:solidFill>
                <a:latin typeface="Arial"/>
              </a:rPr>
              <a:t>THE /DECIDE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2192B"/>
                </a:solidFill>
                <a:latin typeface="Arial"/>
              </a:rPr>
              <a:t>Three Question Types, One Endpoint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6F5F1"/>
                </a:solidFill>
                <a:latin typeface="Consolas"/>
              </a:rPr>
              <a:t>bool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12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50592"/>
            <a:ext cx="323697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"question": "Confirm this account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 is safe and valid",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"type": "bool"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A7179"/>
                </a:solidFill>
                <a:latin typeface="Arial"/>
              </a:rPr>
              <a:t>↓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828032"/>
            <a:ext cx="32369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  "answer": true,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  "confidence": 0.95,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  "latency_ms": 0.04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6F5F1"/>
                </a:solidFill>
                <a:latin typeface="Consolas"/>
              </a:rPr>
              <a:t>enum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28600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12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450592"/>
            <a:ext cx="323697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"question": "Customer wants a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 refund for late delivery",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"type": "enum",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"options": [...]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3434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A7179"/>
                </a:solidFill>
                <a:latin typeface="Arial"/>
              </a:rPr>
              <a:t>↓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634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828032"/>
            <a:ext cx="32369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  "answer": "refund",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  "confidence": 0.70,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  "latency_ms": 0.03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73736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73736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6F5F1"/>
                </a:solidFill>
                <a:latin typeface="Consolas"/>
              </a:rPr>
              <a:t>number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28600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12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450592"/>
            <a:ext cx="323697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"question": "Rate this 1 to 5,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 I’d say a 4",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"type": "number",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  "min_value": 1, "max_value": 5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FD8D5"/>
                </a:solidFill>
                <a:latin typeface="Consolas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3434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A7179"/>
                </a:solidFill>
                <a:latin typeface="Arial"/>
              </a:rPr>
              <a:t>↓ 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6634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4828032"/>
            <a:ext cx="32369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  "answer": 4.0,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  "confidence": 0.90,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  "latency_ms": 0.01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0394A"/>
                </a:solidFill>
                <a:latin typeface="Consolas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Laya Project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A394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6F5F1"/>
                </a:solidFill>
                <a:latin typeface="Arial"/>
              </a:rPr>
              <a:t>Seeing it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8686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>
                <a:solidFill>
                  <a:srgbClr val="BFD8D5"/>
                </a:solidFill>
                <a:latin typeface="Arial"/>
              </a:rPr>
              <a:t>→  Doom gameplay on the heuristic backend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>
                <a:solidFill>
                  <a:srgbClr val="BFD8D5"/>
                </a:solidFill>
                <a:latin typeface="Arial"/>
              </a:rPr>
              <a:t>→  Shooting range on the heuristic backend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>
                <a:solidFill>
                  <a:srgbClr val="BFD8D5"/>
                </a:solidFill>
                <a:latin typeface="Arial"/>
              </a:rPr>
              <a:t>→  Swagger UI: /decide calls on both backends,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FD8D5"/>
                </a:solidFill>
                <a:latin typeface="Arial"/>
              </a:rPr>
              <a:t>Laya Project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94"/>
                </a:solidFill>
                <a:latin typeface="Arial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2192B"/>
                </a:solidFill>
                <a:latin typeface="Arial"/>
              </a:rPr>
              <a:t>Bottom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64008" cy="1371600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92B"/>
                </a:solidFill>
                <a:latin typeface="Arial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0394A"/>
                </a:solidFill>
                <a:latin typeface="Arial"/>
              </a:rPr>
              <a:t>·  The heuristic engine wins on both speed and accuracy for these demos — because it was built specifically for this exact wording.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64008" cy="1371600"/>
          </a:xfrm>
          <a:prstGeom prst="rect">
            <a:avLst/>
          </a:prstGeom>
          <a:solidFill>
            <a:srgbClr val="C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92B"/>
                </a:solidFill>
                <a:latin typeface="Arial"/>
              </a:rPr>
              <a:t>laya-mlx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0394A"/>
                </a:solidFill>
                <a:latin typeface="Arial"/>
              </a:rPr>
              <a:t>·  Proves the real typed-decision contract and genuine model inference — but it's out-of-domain on Doom-style spatial text, not a drop-in upgrade yet.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754880"/>
            <a:ext cx="64008" cy="1371600"/>
          </a:xfrm>
          <a:prstGeom prst="rect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56048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92B"/>
                </a:solidFill>
                <a:latin typeface="Arial"/>
              </a:rPr>
              <a:t>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0394A"/>
                </a:solidFill>
                <a:latin typeface="Arial"/>
              </a:rPr>
              <a:t>·  Keep the heuristic for demo reliability. Evaluate laya-mlx on-domain (tickets, approvals, moderation) before any production decision — dedicated GPU hosting helps throughput at scale, not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Laya Project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A717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6F5F1"/>
                </a:solidFill>
                <a:latin typeface="Arial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FD8D5"/>
                </a:solidFill>
                <a:latin typeface="Arial"/>
              </a:rPr>
              <a:t>Repo: laya-demo  ·  Report: LAYA_MLX_VS_HEURISTIC.md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